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228600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0F172A"/>
                </a:solidFill>
              </a:defRPr>
            </a:pPr>
            <a:r>
              <a:t>Demystifying Artificial Intelligence</a:t>
            </a:r>
          </a:p>
          <a:p>
            <a:pPr>
              <a:spcBef>
                <a:spcPts val="1400"/>
              </a:spcBef>
              <a:defRPr sz="2200">
                <a:solidFill>
                  <a:srgbClr val="2563EB"/>
                </a:solidFill>
              </a:defRPr>
            </a:pPr>
            <a:r>
              <a:t>Chapter 1: Introduction to AI for Students</a:t>
            </a:r>
          </a:p>
          <a:p>
            <a:pPr>
              <a:spcBef>
                <a:spcPts val="2800"/>
              </a:spcBef>
              <a:defRPr sz="1800">
                <a:solidFill>
                  <a:srgbClr val="64748B"/>
                </a:solidFill>
              </a:defRPr>
            </a:pPr>
            <a:r>
              <a:t>Instructor: Muhammad Hamza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🎯 Learning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10362895" cy="914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7451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•  Define Artificial Intelligence and distinguish it from traditional rule-based computing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10362895" cy="914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•  Identify the core milestones in the historical evolution of AI technologies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114800"/>
            <a:ext cx="10362895" cy="914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25196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•  Analyze the distinction between Narrow AI and General AI, and recognize current real-world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What is Artificial Intelligence?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362895" cy="3931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9784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•  Core Definition: The simulation of human intelligence processes by machines, especially computer systems, to perform complex cognitive tasks.</a:t>
            </a:r>
          </a:p>
          <a:p>
            <a:pPr>
              <a:spcBef>
                <a:spcPts val="1400"/>
              </a:spcBef>
              <a:defRPr sz="2000">
                <a:solidFill>
                  <a:srgbClr val="1E293B"/>
                </a:solidFill>
              </a:defRPr>
            </a:pPr>
            <a:r>
              <a:t>•  Traditional vs. AI Computing: Traditional programming requires explicit step-by-step instructions; AI relies on pattern recognition and self-correction from data.</a:t>
            </a:r>
          </a:p>
          <a:p>
            <a:pPr>
              <a:spcBef>
                <a:spcPts val="1400"/>
              </a:spcBef>
              <a:defRPr sz="2000">
                <a:solidFill>
                  <a:srgbClr val="1E293B"/>
                </a:solidFill>
              </a:defRPr>
            </a:pPr>
            <a:r>
              <a:t>•  Primary Capabilities: Key pillars include learning (information acquisition), reasoning (using rules to reach conclusions), and adaptation.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💡 Key Takeaway: AI shifts computing from rigid, pre-programmed rules to dynamic, data-driven patterns.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The Evolutionary Milestones of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362895" cy="3931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9784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•  The Turing Test (1950): Alan Turing proposed a benchmark for machine intelligence based on a machine's ability to exhibit indistinguishable human behavior.</a:t>
            </a:r>
          </a:p>
          <a:p>
            <a:pPr>
              <a:spcBef>
                <a:spcPts val="1400"/>
              </a:spcBef>
              <a:defRPr sz="2000">
                <a:solidFill>
                  <a:srgbClr val="1E293B"/>
                </a:solidFill>
              </a:defRPr>
            </a:pPr>
            <a:r>
              <a:t>•  The Dartmouth Workshop (1956): The historic academic event where the term 'Artificial Intelligence' was officially coined and the field was born.</a:t>
            </a:r>
          </a:p>
          <a:p>
            <a:pPr>
              <a:spcBef>
                <a:spcPts val="1400"/>
              </a:spcBef>
              <a:defRPr sz="2000">
                <a:solidFill>
                  <a:srgbClr val="1E293B"/>
                </a:solidFill>
              </a:defRPr>
            </a:pPr>
            <a:r>
              <a:t>•  AI Winters and Modern Resurgence: Periods of high expectations followed by funding cuts, resolved recently by massive computing power and 'Big Data' availability.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💡 Key Takeaway: Modern AI is built on decades of cyclical research, now accelerated by modern computing power.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Categorizing AI: Narrow vs. General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362895" cy="3931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9784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•  Artificial Narrow AI (ANI): Systems designed and trained for a singular, specific task (e.g., facial recognition, chess-playing engines, spam filters).</a:t>
            </a:r>
          </a:p>
          <a:p>
            <a:pPr>
              <a:spcBef>
                <a:spcPts val="1400"/>
              </a:spcBef>
              <a:defRPr sz="2000">
                <a:solidFill>
                  <a:srgbClr val="1E293B"/>
                </a:solidFill>
              </a:defRPr>
            </a:pPr>
            <a:r>
              <a:t>•  Artificial General AI (AGI): A hypothetical system possessing human-level cognitive capabilities across diverse, unstructured domains.</a:t>
            </a:r>
          </a:p>
          <a:p>
            <a:pPr>
              <a:spcBef>
                <a:spcPts val="1400"/>
              </a:spcBef>
              <a:defRPr sz="2000">
                <a:solidFill>
                  <a:srgbClr val="1E293B"/>
                </a:solidFill>
              </a:defRPr>
            </a:pPr>
            <a:r>
              <a:t>•  The Current State: Every AI application currently in existence is Narrow AI, regardless of how intelligent or multi-capable it seems.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💡 Key Takeaway: We live strictly in the era of Narrow AI; Artificial General Intelligence remains a theoretical goal.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The Powerhouses of AI: ML and Deep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362895" cy="3931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9784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•  Machine Learning (ML): A core subset of AI focused on building systems that learn and improve their performance automatically through exposure to data.</a:t>
            </a:r>
          </a:p>
          <a:p>
            <a:pPr>
              <a:spcBef>
                <a:spcPts val="1400"/>
              </a:spcBef>
              <a:defRPr sz="2000">
                <a:solidFill>
                  <a:srgbClr val="1E293B"/>
                </a:solidFill>
              </a:defRPr>
            </a:pPr>
            <a:r>
              <a:t>•  Deep Learning (DL): A highly advanced subset of ML utilizing multi-layered artificial neural networks modeled loosely after the biological human brain.</a:t>
            </a:r>
          </a:p>
          <a:p>
            <a:pPr>
              <a:spcBef>
                <a:spcPts val="1400"/>
              </a:spcBef>
              <a:defRPr sz="2000">
                <a:solidFill>
                  <a:srgbClr val="1E293B"/>
                </a:solidFill>
              </a:defRPr>
            </a:pPr>
            <a:r>
              <a:t>•  The Data Connection: Deep Learning models thrive on enormous volumes of unstructured data, such as images, audio, and raw text files.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💡 Key Takeaway: Deep Learning is a specialized subset of Machine Learning, which in turn is a subset of the broader field of AI.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Introduction to AI Ethics &amp; Responsibility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362895" cy="3931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737360"/>
            <a:ext cx="9784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•  Algorithmic Bias: AI models inherit and amplify human prejudices present within their historical training data.</a:t>
            </a:r>
          </a:p>
          <a:p>
            <a:pPr>
              <a:spcBef>
                <a:spcPts val="1400"/>
              </a:spcBef>
              <a:defRPr sz="2000">
                <a:solidFill>
                  <a:srgbClr val="1E293B"/>
                </a:solidFill>
              </a:defRPr>
            </a:pPr>
            <a:r>
              <a:t>•  The 'Black Box' Problem: Many complex deep learning models generate outputs through pathways that are challenging for human developers to trace or explain.</a:t>
            </a:r>
          </a:p>
          <a:p>
            <a:pPr>
              <a:spcBef>
                <a:spcPts val="1400"/>
              </a:spcBef>
              <a:defRPr sz="2000">
                <a:solidFill>
                  <a:srgbClr val="1E293B"/>
                </a:solidFill>
              </a:defRPr>
            </a:pPr>
            <a:r>
              <a:t>•  Privacy Concerns: AI systems rely on massive amounts of user data, creating critical debates around consent, surveillance, and data security.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563EB"/>
                </a:solidFill>
              </a:defRPr>
            </a:pPr>
            <a:r>
              <a:t>💡 Key Takeaway: Creating powerful AI requires an equal commitment to designing transparent, unbiased, and ethical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F172A"/>
                </a:solidFill>
              </a:defRPr>
            </a:pPr>
            <a:r>
              <a:t>📌 Summary &amp; Student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10362895" cy="29260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9784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•  AI is defined by its ability to learn, reason, and adapt from data, distinguishing it from traditional static software.</a:t>
            </a:r>
          </a:p>
          <a:p>
            <a:pPr>
              <a:spcBef>
                <a:spcPts val="1200"/>
              </a:spcBef>
              <a:defRPr sz="2000">
                <a:solidFill>
                  <a:srgbClr val="1E293B"/>
                </a:solidFill>
              </a:defRPr>
            </a:pPr>
            <a:r>
              <a:t>•  While true Artificial General Intelligence (AGI) is still theoretical, Narrow AI excels at highly specific everyday tasks.</a:t>
            </a:r>
          </a:p>
          <a:p>
            <a:pPr>
              <a:spcBef>
                <a:spcPts val="1200"/>
              </a:spcBef>
              <a:defRPr sz="2000">
                <a:solidFill>
                  <a:srgbClr val="1E293B"/>
                </a:solidFill>
              </a:defRPr>
            </a:pPr>
            <a:r>
              <a:t>•  Responsible development requires balancing technical AI breakthroughs with critical ethical guardrails and bias prevention.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563EB"/>
                </a:solidFill>
              </a:defRPr>
            </a:pPr>
            <a:r>
              <a:t>❓ Q&amp;A Discussion Prompt: When an autonomous AI system makes a harmful mistake, who should be held ethically and legally responsible: the developer, the user, or the creators of the training data?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